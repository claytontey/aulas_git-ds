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9B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47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Sudeste</c:v>
                </c:pt>
              </c:strCache>
            </c:strRef>
          </c:tx>
          <c:spPr>
            <a:ln w="31750" cap="flat">
              <a:solidFill>
                <a:srgbClr val="4B8EF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B8EF0"/>
              </a:solidFill>
              <a:ln w="9525" cap="flat">
                <a:solidFill>
                  <a:srgbClr val="4B8EF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3.95</c:v>
                </c:pt>
                <c:pt idx="1">
                  <c:v>4.12</c:v>
                </c:pt>
                <c:pt idx="2">
                  <c:v>4.05</c:v>
                </c:pt>
                <c:pt idx="3">
                  <c:v>3.88</c:v>
                </c:pt>
                <c:pt idx="4">
                  <c:v>3.71</c:v>
                </c:pt>
                <c:pt idx="5">
                  <c:v>3.1</c:v>
                </c:pt>
                <c:pt idx="6">
                  <c:v>3.45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42-4C69-9D44-2EDB7C8E81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Sul</c:v>
                </c:pt>
              </c:strCache>
            </c:strRef>
          </c:tx>
          <c:spPr>
            <a:ln w="31750" cap="flat">
              <a:solidFill>
                <a:srgbClr val="3DBF7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DBF7C"/>
              </a:solidFill>
              <a:ln w="9525" cap="flat">
                <a:solidFill>
                  <a:srgbClr val="3DBF7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3.46</c:v>
                </c:pt>
                <c:pt idx="1">
                  <c:v>3.58</c:v>
                </c:pt>
                <c:pt idx="2">
                  <c:v>3.62</c:v>
                </c:pt>
                <c:pt idx="3">
                  <c:v>3.55</c:v>
                </c:pt>
                <c:pt idx="4">
                  <c:v>3.4</c:v>
                </c:pt>
                <c:pt idx="5">
                  <c:v>2.85</c:v>
                </c:pt>
                <c:pt idx="6">
                  <c:v>3.12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842-4C69-9D44-2EDB7C8E81F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Centro-Oeste</c:v>
                </c:pt>
              </c:strCache>
            </c:strRef>
          </c:tx>
          <c:spPr>
            <a:ln w="31750" cap="flat">
              <a:solidFill>
                <a:srgbClr val="D4A0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3.63</c:v>
                </c:pt>
                <c:pt idx="1">
                  <c:v>3.78</c:v>
                </c:pt>
                <c:pt idx="2">
                  <c:v>3.7</c:v>
                </c:pt>
                <c:pt idx="3">
                  <c:v>3.52</c:v>
                </c:pt>
                <c:pt idx="4">
                  <c:v>3.35</c:v>
                </c:pt>
                <c:pt idx="5">
                  <c:v>2.8</c:v>
                </c:pt>
                <c:pt idx="6">
                  <c:v>3.05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842-4C69-9D44-2EDB7C8E81F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Nordeste</c:v>
                </c:pt>
              </c:strCache>
            </c:strRef>
          </c:tx>
          <c:spPr>
            <a:ln w="31750" cap="flat">
              <a:solidFill>
                <a:srgbClr val="E0525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5252"/>
              </a:solidFill>
              <a:ln w="9525" cap="flat">
                <a:solidFill>
                  <a:srgbClr val="E0525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1.93</c:v>
                </c:pt>
                <c:pt idx="1">
                  <c:v>2.0499999999999998</c:v>
                </c:pt>
                <c:pt idx="2">
                  <c:v>2.1</c:v>
                </c:pt>
                <c:pt idx="3">
                  <c:v>2.08</c:v>
                </c:pt>
                <c:pt idx="4">
                  <c:v>1.95</c:v>
                </c:pt>
                <c:pt idx="5">
                  <c:v>1.72</c:v>
                </c:pt>
                <c:pt idx="6">
                  <c:v>1.88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842-4C69-9D44-2EDB7C8E81F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Norte</c:v>
                </c:pt>
              </c:strCache>
            </c:strRef>
          </c:tx>
          <c:spPr>
            <a:ln w="31750" cap="flat">
              <a:solidFill>
                <a:srgbClr val="2BBFB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BBFB0"/>
              </a:solidFill>
              <a:ln w="9525" cap="flat">
                <a:solidFill>
                  <a:srgbClr val="2BBFB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2.02</c:v>
                </c:pt>
                <c:pt idx="1">
                  <c:v>2.15</c:v>
                </c:pt>
                <c:pt idx="2">
                  <c:v>2.1800000000000002</c:v>
                </c:pt>
                <c:pt idx="3">
                  <c:v>2.12</c:v>
                </c:pt>
                <c:pt idx="4">
                  <c:v>2</c:v>
                </c:pt>
                <c:pt idx="5">
                  <c:v>1.78</c:v>
                </c:pt>
                <c:pt idx="6">
                  <c:v>1.95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842-4C69-9D44-2EDB7C8E81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3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A9BAE"/>
                    </a:solidFill>
                    <a:latin typeface="Arial"/>
                  </a:defRPr>
                </a:pPr>
                <a:r>
                  <a:rPr lang="pt-BR" sz="900" b="0" i="0" u="none" strike="noStrike">
                    <a:solidFill>
                      <a:srgbClr val="8A9BAE"/>
                    </a:solidFill>
                    <a:latin typeface="Arial"/>
                  </a:rPr>
                  <a:t>Taxa por 100 mil hab.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1000">
                <a:solidFill>
                  <a:srgbClr val="8A9BAE"/>
                </a:solidFill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sz="1000">
                <a:solidFill>
                  <a:srgbClr val="8A9BAE"/>
                </a:solidFill>
              </a:defRPr>
            </a:pPr>
            <a:endParaRPr lang="en-US"/>
          </a:p>
        </c:txPr>
      </c:legendEntry>
      <c:legendEntry>
        <c:idx val="2"/>
        <c:txPr>
          <a:bodyPr/>
          <a:lstStyle/>
          <a:p>
            <a:pPr>
              <a:defRPr sz="1000">
                <a:solidFill>
                  <a:srgbClr val="8A9BAE"/>
                </a:solidFill>
              </a:defRPr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1000">
                <a:solidFill>
                  <a:srgbClr val="8A9BAE"/>
                </a:solidFill>
              </a:defRPr>
            </a:pPr>
            <a:endParaRPr lang="en-US"/>
          </a:p>
        </c:txPr>
      </c:legendEntry>
      <c:legendEntry>
        <c:idx val="4"/>
        <c:txPr>
          <a:bodyPr/>
          <a:lstStyle/>
          <a:p>
            <a:pPr>
              <a:defRPr sz="1000">
                <a:solidFill>
                  <a:srgbClr val="8A9BAE"/>
                </a:solidFill>
              </a:defRPr>
            </a:pPr>
            <a:endParaRPr lang="en-US"/>
          </a:p>
        </c:txPr>
      </c:legendEntry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0D152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Homicídio Doloso</c:v>
                </c:pt>
              </c:strCache>
            </c:strRef>
          </c:tx>
          <c:spPr>
            <a:ln w="19050" cap="flat">
              <a:solidFill>
                <a:srgbClr val="4B8EF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B8EF0"/>
              </a:solidFill>
              <a:ln w="9525" cap="flat">
                <a:solidFill>
                  <a:srgbClr val="4B8EF0"/>
                </a:solidFill>
                <a:prstDash val="solid"/>
                <a:round/>
              </a:ln>
              <a:effectLst/>
            </c:spPr>
          </c:marker>
          <c:xVal>
            <c:numRef>
              <c:f>Sheet1!$A$2:$A$28</c:f>
              <c:numCache>
                <c:formatCode>General</c:formatCode>
                <c:ptCount val="27"/>
                <c:pt idx="0">
                  <c:v>12</c:v>
                </c:pt>
                <c:pt idx="1">
                  <c:v>20</c:v>
                </c:pt>
                <c:pt idx="2">
                  <c:v>30</c:v>
                </c:pt>
                <c:pt idx="3">
                  <c:v>15</c:v>
                </c:pt>
                <c:pt idx="4">
                  <c:v>50</c:v>
                </c:pt>
                <c:pt idx="5">
                  <c:v>80</c:v>
                </c:pt>
                <c:pt idx="6">
                  <c:v>120</c:v>
                </c:pt>
                <c:pt idx="7">
                  <c:v>45</c:v>
                </c:pt>
                <c:pt idx="8">
                  <c:v>60</c:v>
                </c:pt>
                <c:pt idx="9">
                  <c:v>90</c:v>
                </c:pt>
                <c:pt idx="10">
                  <c:v>100</c:v>
                </c:pt>
                <c:pt idx="11">
                  <c:v>70</c:v>
                </c:pt>
                <c:pt idx="12">
                  <c:v>30</c:v>
                </c:pt>
                <c:pt idx="13">
                  <c:v>200</c:v>
                </c:pt>
                <c:pt idx="14">
                  <c:v>150</c:v>
                </c:pt>
                <c:pt idx="15">
                  <c:v>180</c:v>
                </c:pt>
                <c:pt idx="16">
                  <c:v>250</c:v>
                </c:pt>
                <c:pt idx="17">
                  <c:v>300</c:v>
                </c:pt>
                <c:pt idx="18">
                  <c:v>350</c:v>
                </c:pt>
                <c:pt idx="19">
                  <c:v>100</c:v>
                </c:pt>
                <c:pt idx="20">
                  <c:v>80</c:v>
                </c:pt>
                <c:pt idx="21">
                  <c:v>40</c:v>
                </c:pt>
                <c:pt idx="22">
                  <c:v>120</c:v>
                </c:pt>
                <c:pt idx="23">
                  <c:v>200</c:v>
                </c:pt>
                <c:pt idx="24">
                  <c:v>150</c:v>
                </c:pt>
                <c:pt idx="25">
                  <c:v>90</c:v>
                </c:pt>
                <c:pt idx="26">
                  <c:v>60</c:v>
                </c:pt>
              </c:numCache>
            </c:numRef>
          </c:xVal>
          <c:yVal>
            <c:numRef>
              <c:f>Sheet1!$B$2:$B$28</c:f>
              <c:numCache>
                <c:formatCode>General</c:formatCode>
                <c:ptCount val="27"/>
                <c:pt idx="0">
                  <c:v>28</c:v>
                </c:pt>
                <c:pt idx="1">
                  <c:v>35</c:v>
                </c:pt>
                <c:pt idx="2">
                  <c:v>50</c:v>
                </c:pt>
                <c:pt idx="3">
                  <c:v>22</c:v>
                </c:pt>
                <c:pt idx="4">
                  <c:v>30</c:v>
                </c:pt>
                <c:pt idx="5">
                  <c:v>45</c:v>
                </c:pt>
                <c:pt idx="6">
                  <c:v>18</c:v>
                </c:pt>
                <c:pt idx="7">
                  <c:v>55</c:v>
                </c:pt>
                <c:pt idx="8">
                  <c:v>25</c:v>
                </c:pt>
                <c:pt idx="9">
                  <c:v>40</c:v>
                </c:pt>
                <c:pt idx="10">
                  <c:v>52</c:v>
                </c:pt>
                <c:pt idx="11">
                  <c:v>38</c:v>
                </c:pt>
                <c:pt idx="12">
                  <c:v>20</c:v>
                </c:pt>
                <c:pt idx="13">
                  <c:v>30</c:v>
                </c:pt>
                <c:pt idx="14">
                  <c:v>25</c:v>
                </c:pt>
                <c:pt idx="15">
                  <c:v>42</c:v>
                </c:pt>
                <c:pt idx="16">
                  <c:v>29</c:v>
                </c:pt>
                <c:pt idx="17">
                  <c:v>32</c:v>
                </c:pt>
                <c:pt idx="18">
                  <c:v>44</c:v>
                </c:pt>
                <c:pt idx="19">
                  <c:v>60</c:v>
                </c:pt>
                <c:pt idx="20">
                  <c:v>15</c:v>
                </c:pt>
                <c:pt idx="21">
                  <c:v>48</c:v>
                </c:pt>
                <c:pt idx="22">
                  <c:v>10</c:v>
                </c:pt>
                <c:pt idx="23">
                  <c:v>55</c:v>
                </c:pt>
                <c:pt idx="24">
                  <c:v>42</c:v>
                </c:pt>
                <c:pt idx="25">
                  <c:v>35</c:v>
                </c:pt>
                <c:pt idx="26">
                  <c:v>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C66-44E2-A9B3-025D4545E7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Tendência</c:v>
                </c:pt>
              </c:strCache>
            </c:strRef>
          </c:tx>
          <c:spPr>
            <a:ln w="19050" cap="flat">
              <a:solidFill>
                <a:srgbClr val="4B8EF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B8EF0"/>
              </a:solidFill>
              <a:ln w="9525" cap="flat">
                <a:solidFill>
                  <a:srgbClr val="4B8EF0"/>
                </a:solidFill>
                <a:prstDash val="solid"/>
                <a:round/>
              </a:ln>
              <a:effectLst/>
            </c:spPr>
          </c:marker>
          <c:xVal>
            <c:numRef>
              <c:f>Sheet1!$A$2:$A$28</c:f>
              <c:numCache>
                <c:formatCode>General</c:formatCode>
                <c:ptCount val="27"/>
                <c:pt idx="0">
                  <c:v>12</c:v>
                </c:pt>
                <c:pt idx="1">
                  <c:v>20</c:v>
                </c:pt>
                <c:pt idx="2">
                  <c:v>30</c:v>
                </c:pt>
                <c:pt idx="3">
                  <c:v>15</c:v>
                </c:pt>
                <c:pt idx="4">
                  <c:v>50</c:v>
                </c:pt>
                <c:pt idx="5">
                  <c:v>80</c:v>
                </c:pt>
                <c:pt idx="6">
                  <c:v>120</c:v>
                </c:pt>
                <c:pt idx="7">
                  <c:v>45</c:v>
                </c:pt>
                <c:pt idx="8">
                  <c:v>60</c:v>
                </c:pt>
                <c:pt idx="9">
                  <c:v>90</c:v>
                </c:pt>
                <c:pt idx="10">
                  <c:v>100</c:v>
                </c:pt>
                <c:pt idx="11">
                  <c:v>70</c:v>
                </c:pt>
                <c:pt idx="12">
                  <c:v>30</c:v>
                </c:pt>
                <c:pt idx="13">
                  <c:v>200</c:v>
                </c:pt>
                <c:pt idx="14">
                  <c:v>150</c:v>
                </c:pt>
                <c:pt idx="15">
                  <c:v>180</c:v>
                </c:pt>
                <c:pt idx="16">
                  <c:v>250</c:v>
                </c:pt>
                <c:pt idx="17">
                  <c:v>300</c:v>
                </c:pt>
                <c:pt idx="18">
                  <c:v>350</c:v>
                </c:pt>
                <c:pt idx="19">
                  <c:v>100</c:v>
                </c:pt>
                <c:pt idx="20">
                  <c:v>80</c:v>
                </c:pt>
                <c:pt idx="21">
                  <c:v>40</c:v>
                </c:pt>
                <c:pt idx="22">
                  <c:v>120</c:v>
                </c:pt>
                <c:pt idx="23">
                  <c:v>200</c:v>
                </c:pt>
                <c:pt idx="24">
                  <c:v>150</c:v>
                </c:pt>
                <c:pt idx="25">
                  <c:v>90</c:v>
                </c:pt>
                <c:pt idx="26">
                  <c:v>60</c:v>
                </c:pt>
              </c:numCache>
            </c:numRef>
          </c:xVal>
          <c:yVal>
            <c:numRef>
              <c:f>Sheet1!$C$2:$C$28</c:f>
              <c:numCache>
                <c:formatCode>General</c:formatCode>
                <c:ptCount val="27"/>
                <c:pt idx="0">
                  <c:v>22.443999999999999</c:v>
                </c:pt>
                <c:pt idx="1">
                  <c:v>22.74</c:v>
                </c:pt>
                <c:pt idx="2">
                  <c:v>23.11</c:v>
                </c:pt>
                <c:pt idx="3">
                  <c:v>22.555</c:v>
                </c:pt>
                <c:pt idx="4">
                  <c:v>23.85</c:v>
                </c:pt>
                <c:pt idx="5">
                  <c:v>24.96</c:v>
                </c:pt>
                <c:pt idx="6">
                  <c:v>26.439999999999998</c:v>
                </c:pt>
                <c:pt idx="7">
                  <c:v>23.664999999999999</c:v>
                </c:pt>
                <c:pt idx="8">
                  <c:v>24.22</c:v>
                </c:pt>
                <c:pt idx="9">
                  <c:v>25.33</c:v>
                </c:pt>
                <c:pt idx="10">
                  <c:v>25.7</c:v>
                </c:pt>
                <c:pt idx="11">
                  <c:v>24.59</c:v>
                </c:pt>
                <c:pt idx="12">
                  <c:v>23.11</c:v>
                </c:pt>
                <c:pt idx="13">
                  <c:v>29.4</c:v>
                </c:pt>
                <c:pt idx="14">
                  <c:v>27.55</c:v>
                </c:pt>
                <c:pt idx="15">
                  <c:v>28.66</c:v>
                </c:pt>
                <c:pt idx="16">
                  <c:v>31.25</c:v>
                </c:pt>
                <c:pt idx="17">
                  <c:v>33.1</c:v>
                </c:pt>
                <c:pt idx="18">
                  <c:v>34.950000000000003</c:v>
                </c:pt>
                <c:pt idx="19">
                  <c:v>25.7</c:v>
                </c:pt>
                <c:pt idx="20">
                  <c:v>24.96</c:v>
                </c:pt>
                <c:pt idx="21">
                  <c:v>23.48</c:v>
                </c:pt>
                <c:pt idx="22">
                  <c:v>26.439999999999998</c:v>
                </c:pt>
                <c:pt idx="23">
                  <c:v>29.4</c:v>
                </c:pt>
                <c:pt idx="24">
                  <c:v>27.55</c:v>
                </c:pt>
                <c:pt idx="25">
                  <c:v>25.33</c:v>
                </c:pt>
                <c:pt idx="26">
                  <c:v>24.22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C66-44E2-A9B3-025D4545E7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A3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A9BAE"/>
                    </a:solidFill>
                    <a:latin typeface="Arial"/>
                  </a:defRPr>
                </a:pPr>
                <a:r>
                  <a:rPr lang="pt-BR" sz="900" b="0" i="0" u="none" strike="noStrike">
                    <a:solidFill>
                      <a:srgbClr val="8A9BAE"/>
                    </a:solidFill>
                    <a:latin typeface="Arial"/>
                  </a:rPr>
                  <a:t>Taxa de Roubos por 100 mil hab.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3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A9BAE"/>
                    </a:solidFill>
                    <a:latin typeface="Arial"/>
                  </a:defRPr>
                </a:pPr>
                <a:r>
                  <a:rPr lang="pt-BR" sz="900" b="0" i="0" u="none" strike="noStrike">
                    <a:solidFill>
                      <a:srgbClr val="8A9BAE"/>
                    </a:solidFill>
                    <a:latin typeface="Arial"/>
                  </a:rPr>
                  <a:t>Taxa Homicídio Doloso/100k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52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Roubo de Carga</c:v>
                </c:pt>
              </c:strCache>
            </c:strRef>
          </c:tx>
          <c:spPr>
            <a:ln w="31750" cap="flat">
              <a:solidFill>
                <a:srgbClr val="D4A0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0.80369999999999997</c:v>
                </c:pt>
                <c:pt idx="1">
                  <c:v>0.70420000000000005</c:v>
                </c:pt>
                <c:pt idx="2">
                  <c:v>0.80779999999999996</c:v>
                </c:pt>
                <c:pt idx="3">
                  <c:v>0.7671</c:v>
                </c:pt>
                <c:pt idx="4">
                  <c:v>0.78680000000000005</c:v>
                </c:pt>
                <c:pt idx="5">
                  <c:v>0.75929999999999997</c:v>
                </c:pt>
                <c:pt idx="6">
                  <c:v>0.76100000000000001</c:v>
                </c:pt>
                <c:pt idx="7">
                  <c:v>0.749</c:v>
                </c:pt>
                <c:pt idx="8">
                  <c:v>0.69499999999999995</c:v>
                </c:pt>
                <c:pt idx="9">
                  <c:v>0.77529999999999999</c:v>
                </c:pt>
                <c:pt idx="10">
                  <c:v>0.81089999999999995</c:v>
                </c:pt>
                <c:pt idx="11">
                  <c:v>0.91039999999999999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BA-4B18-9159-579BD9E8A9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Roubo a Inst. Financeira (eixo dir.)</c:v>
                </c:pt>
              </c:strCache>
            </c:strRef>
          </c:tx>
          <c:spPr>
            <a:ln w="31750" cap="flat">
              <a:solidFill>
                <a:srgbClr val="4B8EF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B8EF0"/>
              </a:solidFill>
              <a:ln w="9525" cap="flat">
                <a:solidFill>
                  <a:srgbClr val="4B8EF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0.66199999999999992</c:v>
                </c:pt>
                <c:pt idx="1">
                  <c:v>0.67599999999999993</c:v>
                </c:pt>
                <c:pt idx="2">
                  <c:v>0.72799999999999998</c:v>
                </c:pt>
                <c:pt idx="3">
                  <c:v>0.58599999999999997</c:v>
                </c:pt>
                <c:pt idx="4">
                  <c:v>0.622</c:v>
                </c:pt>
                <c:pt idx="5">
                  <c:v>0.57399999999999995</c:v>
                </c:pt>
                <c:pt idx="6">
                  <c:v>0.55599999999999994</c:v>
                </c:pt>
                <c:pt idx="7">
                  <c:v>0.52800000000000002</c:v>
                </c:pt>
                <c:pt idx="8">
                  <c:v>0.53600000000000003</c:v>
                </c:pt>
                <c:pt idx="9">
                  <c:v>0.58799999999999997</c:v>
                </c:pt>
                <c:pt idx="10">
                  <c:v>0.57599999999999996</c:v>
                </c:pt>
                <c:pt idx="11">
                  <c:v>0.59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BA-4B18-9159-579BD9E8A9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3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8A9BAE"/>
                    </a:solidFill>
                    <a:latin typeface="Arial"/>
                  </a:defRPr>
                </a:pPr>
                <a:r>
                  <a:rPr lang="pt-BR" sz="800" b="0" i="0" u="none" strike="noStrike">
                    <a:solidFill>
                      <a:srgbClr val="8A9BAE"/>
                    </a:solidFill>
                    <a:latin typeface="Arial"/>
                  </a:rPr>
                  <a:t>Taxa por 100 mil hab. (normalizada)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900">
                <a:solidFill>
                  <a:srgbClr val="8A9BAE"/>
                </a:solidFill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sz="900">
                <a:solidFill>
                  <a:srgbClr val="8A9BAE"/>
                </a:solidFill>
              </a:defRPr>
            </a:pPr>
            <a:endParaRPr lang="en-US"/>
          </a:p>
        </c:txPr>
      </c:legendEntry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0D152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 (pré)</c:v>
                </c:pt>
              </c:strCache>
            </c:strRef>
          </c:tx>
          <c:spPr>
            <a:solidFill>
              <a:srgbClr val="8A9BA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Roubo Veíc.</c:v>
                </c:pt>
                <c:pt idx="1">
                  <c:v>Roubo Carga</c:v>
                </c:pt>
                <c:pt idx="2">
                  <c:v>Roubo Banco</c:v>
                </c:pt>
                <c:pt idx="3">
                  <c:v>Furto Veíc.</c:v>
                </c:pt>
                <c:pt idx="4">
                  <c:v>Les.Corp.+M.</c:v>
                </c:pt>
                <c:pt idx="5">
                  <c:v>Estupro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7.34</c:v>
                </c:pt>
                <c:pt idx="1">
                  <c:v>0.7</c:v>
                </c:pt>
                <c:pt idx="2">
                  <c:v>1.7000000000000001E-2</c:v>
                </c:pt>
                <c:pt idx="3">
                  <c:v>8.7100000000000009</c:v>
                </c:pt>
                <c:pt idx="4">
                  <c:v>3.4000000000000002E-2</c:v>
                </c:pt>
                <c:pt idx="5">
                  <c:v>2.14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F0-478C-A4F7-DA59FCB107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2020 (pandemia)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Roubo Veíc.</c:v>
                </c:pt>
                <c:pt idx="1">
                  <c:v>Roubo Carga</c:v>
                </c:pt>
                <c:pt idx="2">
                  <c:v>Roubo Banco</c:v>
                </c:pt>
                <c:pt idx="3">
                  <c:v>Furto Veíc.</c:v>
                </c:pt>
                <c:pt idx="4">
                  <c:v>Les.Corp.+M.</c:v>
                </c:pt>
                <c:pt idx="5">
                  <c:v>Estupro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5.51</c:v>
                </c:pt>
                <c:pt idx="1">
                  <c:v>0.53</c:v>
                </c:pt>
                <c:pt idx="2">
                  <c:v>1.2999999999999999E-2</c:v>
                </c:pt>
                <c:pt idx="3">
                  <c:v>6.85</c:v>
                </c:pt>
                <c:pt idx="4">
                  <c:v>2.9000000000000001E-2</c:v>
                </c:pt>
                <c:pt idx="5">
                  <c:v>1.89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F0-478C-A4F7-DA59FCB107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2021 (recuperação)</c:v>
                </c:pt>
              </c:strCache>
            </c:strRef>
          </c:tx>
          <c:spPr>
            <a:solidFill>
              <a:srgbClr val="3DBF7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Roubo Veíc.</c:v>
                </c:pt>
                <c:pt idx="1">
                  <c:v>Roubo Carga</c:v>
                </c:pt>
                <c:pt idx="2">
                  <c:v>Roubo Banco</c:v>
                </c:pt>
                <c:pt idx="3">
                  <c:v>Furto Veíc.</c:v>
                </c:pt>
                <c:pt idx="4">
                  <c:v>Les.Corp.+M.</c:v>
                </c:pt>
                <c:pt idx="5">
                  <c:v>Estupro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5.34</c:v>
                </c:pt>
                <c:pt idx="1">
                  <c:v>0.53</c:v>
                </c:pt>
                <c:pt idx="2">
                  <c:v>1.4999999999999999E-2</c:v>
                </c:pt>
                <c:pt idx="3">
                  <c:v>7.28</c:v>
                </c:pt>
                <c:pt idx="4">
                  <c:v>0.02</c:v>
                </c:pt>
                <c:pt idx="5">
                  <c:v>2.06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F0-478C-A4F7-DA59FCB107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3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A9BAE"/>
                    </a:solidFill>
                    <a:latin typeface="Arial"/>
                  </a:defRPr>
                </a:pPr>
                <a:r>
                  <a:rPr lang="pt-BR" sz="900" b="0" i="0" u="none" strike="noStrike">
                    <a:solidFill>
                      <a:srgbClr val="8A9BAE"/>
                    </a:solidFill>
                    <a:latin typeface="Arial"/>
                  </a:rPr>
                  <a:t>Taxa por 100 mil hab.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A9BA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52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Sequências de 3+ quedas consecutivas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1C5-4E08-9D10-D27215D37449}"/>
              </c:ext>
            </c:extLst>
          </c:dPt>
          <c:dPt>
            <c:idx val="1"/>
            <c:invertIfNegative val="0"/>
            <c:bubble3D val="0"/>
            <c:spPr>
              <a:solidFill>
                <a:srgbClr val="4B8E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1C5-4E08-9D10-D27215D37449}"/>
              </c:ext>
            </c:extLst>
          </c:dPt>
          <c:dPt>
            <c:idx val="2"/>
            <c:invertIfNegative val="0"/>
            <c:bubble3D val="0"/>
            <c:spPr>
              <a:solidFill>
                <a:srgbClr val="4B8E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1C5-4E08-9D10-D27215D37449}"/>
              </c:ext>
            </c:extLst>
          </c:dPt>
          <c:dPt>
            <c:idx val="3"/>
            <c:invertIfNegative val="0"/>
            <c:bubble3D val="0"/>
            <c:spPr>
              <a:solidFill>
                <a:srgbClr val="4B8E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1C5-4E08-9D10-D27215D37449}"/>
              </c:ext>
            </c:extLst>
          </c:dPt>
          <c:dPt>
            <c:idx val="4"/>
            <c:invertIfNegative val="0"/>
            <c:bubble3D val="0"/>
            <c:spPr>
              <a:solidFill>
                <a:srgbClr val="4B8E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1C5-4E08-9D10-D27215D37449}"/>
              </c:ext>
            </c:extLst>
          </c:dPt>
          <c:dPt>
            <c:idx val="5"/>
            <c:invertIfNegative val="0"/>
            <c:bubble3D val="0"/>
            <c:spPr>
              <a:solidFill>
                <a:srgbClr val="4B8E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1C5-4E08-9D10-D27215D37449}"/>
              </c:ext>
            </c:extLst>
          </c:dPt>
          <c:dPt>
            <c:idx val="6"/>
            <c:invertIfNegative val="0"/>
            <c:bubble3D val="0"/>
            <c:spPr>
              <a:solidFill>
                <a:srgbClr val="4B8E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1C5-4E08-9D10-D27215D37449}"/>
              </c:ext>
            </c:extLst>
          </c:dPt>
          <c:dPt>
            <c:idx val="7"/>
            <c:invertIfNegative val="0"/>
            <c:bubble3D val="0"/>
            <c:spPr>
              <a:solidFill>
                <a:srgbClr val="4B8E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1C5-4E08-9D10-D27215D37449}"/>
              </c:ext>
            </c:extLst>
          </c:dPt>
          <c:dPt>
            <c:idx val="8"/>
            <c:invertIfNegative val="0"/>
            <c:bubble3D val="0"/>
            <c:spPr>
              <a:solidFill>
                <a:srgbClr val="4B8E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1C5-4E08-9D10-D27215D37449}"/>
              </c:ext>
            </c:extLst>
          </c:dPt>
          <c:dPt>
            <c:idx val="9"/>
            <c:invertIfNegative val="0"/>
            <c:bubble3D val="0"/>
            <c:spPr>
              <a:solidFill>
                <a:srgbClr val="4B8E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11C5-4E08-9D10-D27215D37449}"/>
              </c:ext>
            </c:extLst>
          </c:dPt>
          <c:dPt>
            <c:idx val="10"/>
            <c:invertIfNegative val="0"/>
            <c:bubble3D val="0"/>
            <c:spPr>
              <a:solidFill>
                <a:srgbClr val="4B8E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11C5-4E08-9D10-D27215D37449}"/>
              </c:ext>
            </c:extLst>
          </c:dPt>
          <c:dPt>
            <c:idx val="11"/>
            <c:invertIfNegative val="0"/>
            <c:bubble3D val="0"/>
            <c:spPr>
              <a:solidFill>
                <a:srgbClr val="4B8E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11C5-4E08-9D10-D27215D37449}"/>
              </c:ext>
            </c:extLst>
          </c:dPt>
          <c:dPt>
            <c:idx val="12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11C5-4E08-9D10-D27215D37449}"/>
              </c:ext>
            </c:extLst>
          </c:dPt>
          <c:dPt>
            <c:idx val="13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11C5-4E08-9D10-D27215D37449}"/>
              </c:ext>
            </c:extLst>
          </c:dPt>
          <c:dPt>
            <c:idx val="14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11C5-4E08-9D10-D27215D37449}"/>
              </c:ext>
            </c:extLst>
          </c:dPt>
          <c:dPt>
            <c:idx val="15"/>
            <c:invertIfNegative val="0"/>
            <c:bubble3D val="0"/>
            <c:spPr>
              <a:solidFill>
                <a:srgbClr val="4A55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11C5-4E08-9D10-D27215D3744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8A9BA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RGS</c:v>
                </c:pt>
                <c:pt idx="1">
                  <c:v>AP</c:v>
                </c:pt>
                <c:pt idx="2">
                  <c:v>SP</c:v>
                </c:pt>
                <c:pt idx="3">
                  <c:v>DF</c:v>
                </c:pt>
                <c:pt idx="4">
                  <c:v>GO</c:v>
                </c:pt>
                <c:pt idx="5">
                  <c:v>PR</c:v>
                </c:pt>
                <c:pt idx="6">
                  <c:v>MS</c:v>
                </c:pt>
                <c:pt idx="7">
                  <c:v>MT</c:v>
                </c:pt>
                <c:pt idx="8">
                  <c:v>MG</c:v>
                </c:pt>
                <c:pt idx="9">
                  <c:v>SC</c:v>
                </c:pt>
                <c:pt idx="10">
                  <c:v>AL</c:v>
                </c:pt>
                <c:pt idx="11">
                  <c:v>SE</c:v>
                </c:pt>
                <c:pt idx="12">
                  <c:v>MA</c:v>
                </c:pt>
                <c:pt idx="13">
                  <c:v>BA</c:v>
                </c:pt>
                <c:pt idx="14">
                  <c:v>PE</c:v>
                </c:pt>
                <c:pt idx="15">
                  <c:v>RJ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0-11C5-4E08-9D10-D27215D374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6350" cap="flat">
              <a:solidFill>
                <a:srgbClr val="1E2A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52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Furto Veículo</c:v>
                </c:pt>
              </c:strCache>
            </c:strRef>
          </c:tx>
          <c:spPr>
            <a:solidFill>
              <a:srgbClr val="4B8EF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8A9BA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Furto Veíc.</c:v>
                </c:pt>
                <c:pt idx="1">
                  <c:v>Homicídio Doloso</c:v>
                </c:pt>
                <c:pt idx="2">
                  <c:v>Roubo Veíc.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-0.54</c:v>
                </c:pt>
                <c:pt idx="2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F-41CB-957A-C5CE3263879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Homicídio Doloso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8A9BA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Furto Veíc.</c:v>
                </c:pt>
                <c:pt idx="1">
                  <c:v>Homicídio Doloso</c:v>
                </c:pt>
                <c:pt idx="2">
                  <c:v>Roubo Veíc.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-0.54</c:v>
                </c:pt>
                <c:pt idx="1">
                  <c:v>1</c:v>
                </c:pt>
                <c:pt idx="2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3F-41CB-957A-C5CE3263879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Roubo Veículo</c:v>
                </c:pt>
              </c:strCache>
            </c:strRef>
          </c:tx>
          <c:spPr>
            <a:solidFill>
              <a:srgbClr val="3DBF7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8A9BA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Furto Veíc.</c:v>
                </c:pt>
                <c:pt idx="1">
                  <c:v>Homicídio Doloso</c:v>
                </c:pt>
                <c:pt idx="2">
                  <c:v>Roubo Veíc.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0.22</c:v>
                </c:pt>
                <c:pt idx="1">
                  <c:v>0.24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3F-41CB-957A-C5CE326387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0.8"/>
        </c:scaling>
        <c:delete val="0"/>
        <c:axPos val="l"/>
        <c:majorGridlines>
          <c:spPr>
            <a:ln w="6350" cap="flat">
              <a:solidFill>
                <a:srgbClr val="1E2A3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A9BAE"/>
                    </a:solidFill>
                    <a:latin typeface="Arial"/>
                  </a:defRPr>
                </a:pPr>
                <a:r>
                  <a:rPr lang="pt-BR" sz="900" b="0" i="0" u="none" strike="noStrike">
                    <a:solidFill>
                      <a:srgbClr val="8A9BAE"/>
                    </a:solidFill>
                    <a:latin typeface="Arial"/>
                  </a:rPr>
                  <a:t>Coeficiente de Correlação (r)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A9BA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5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4523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200400" y="0"/>
            <a:ext cx="45720" cy="51435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429000" y="822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PÚBLICA · BRASIL · 2015–2021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29000" y="118872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Criminalidade
</a:t>
            </a:r>
            <a:r>
              <a:rPr lang="en-US" sz="4000" b="1" dirty="0">
                <a:solidFill>
                  <a:srgbClr val="E8C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Brasil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429000" y="2834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Regionais, Sazonalidade e Anomalia Pandêmica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3383280"/>
            <a:ext cx="502920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429000" y="3520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20.243 registros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27448" y="3520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estados + DF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25896" y="3520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tipos de crime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24344" y="3520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SINESP + IBGE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" y="1645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kern="0" spc="4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" y="2286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8C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20.243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18288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integrados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4709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SINESP (ocorrências) · IBGE (estimativas populacionais)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BASE DE DADOS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Integração: SINESP + IBGE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141732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4864" cy="14173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75488" y="1417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20.243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" y="208483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totais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merge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96312" y="1371600"/>
            <a:ext cx="1965960" cy="141732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496312" y="1371600"/>
            <a:ext cx="54864" cy="1417320"/>
          </a:xfrm>
          <a:prstGeom prst="rect">
            <a:avLst/>
          </a:prstGeom>
          <a:solidFill>
            <a:srgbClr val="4B8E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606040" y="1417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B8E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2015–21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208483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coberto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anos)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371600"/>
            <a:ext cx="1965960" cy="141732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626864" y="1371600"/>
            <a:ext cx="54864" cy="1417320"/>
          </a:xfrm>
          <a:prstGeom prst="rect">
            <a:avLst/>
          </a:prstGeom>
          <a:solidFill>
            <a:srgbClr val="2BBF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736592" y="1417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B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36592" y="208483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crime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57416" y="1371600"/>
            <a:ext cx="1965960" cy="141732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757416" y="1371600"/>
            <a:ext cx="54864" cy="1417320"/>
          </a:xfrm>
          <a:prstGeom prst="rect">
            <a:avLst/>
          </a:prstGeom>
          <a:solidFill>
            <a:srgbClr val="3DBF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867144" y="1417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B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 UFs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67144" y="208483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+ DF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mapeados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Processamento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1965960" cy="1371600"/>
          </a:xfrm>
          <a:prstGeom prst="rect">
            <a:avLst/>
          </a:prstGeom>
          <a:solidFill>
            <a:srgbClr val="1E2A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54864" cy="13716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75488" y="3429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C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5488" y="37673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IBGE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40416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popUF(2015-2021).xlsx → formato Long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96312" y="3383280"/>
            <a:ext cx="1965960" cy="1371600"/>
          </a:xfrm>
          <a:prstGeom prst="rect">
            <a:avLst/>
          </a:prstGeom>
          <a:solidFill>
            <a:srgbClr val="1E2A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2496312" y="3383280"/>
            <a:ext cx="54864" cy="13716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2606040" y="3429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C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606040" y="37673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06040" y="40416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UF.strip().upper() · Ano int · Merge inner join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26864" y="3383280"/>
            <a:ext cx="1965960" cy="1371600"/>
          </a:xfrm>
          <a:prstGeom prst="rect">
            <a:avLst/>
          </a:prstGeom>
          <a:solidFill>
            <a:srgbClr val="1E2A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626864" y="3383280"/>
            <a:ext cx="54864" cy="13716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736592" y="3429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C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736592" y="37673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Enriquecimento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36592" y="40416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por 100k hab. · Flag pandemia · Região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57416" y="3383280"/>
            <a:ext cx="1965960" cy="1371600"/>
          </a:xfrm>
          <a:prstGeom prst="rect">
            <a:avLst/>
          </a:prstGeom>
          <a:solidFill>
            <a:srgbClr val="1E2A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6757416" y="3383280"/>
            <a:ext cx="54864" cy="13716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867144" y="3429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C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867144" y="37673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Agregações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67144" y="40416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UF/Ano · Por Região · Por Tipo de Crime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AÇÃO SUGERIDA — VISUALIZAÇÃO PRINCIPAL OBRIGATÓRIA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Série Temporal das 5 Regiões do Brasil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total de ocorrências por 100 mil habitantes · 2015–2021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780073704"/>
              </p:ext>
            </p:extLst>
          </p:nvPr>
        </p:nvGraphicFramePr>
        <p:xfrm>
          <a:off x="365760" y="1417320"/>
          <a:ext cx="6400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1417320"/>
            <a:ext cx="1920240" cy="109728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6903720" y="1417320"/>
            <a:ext cx="54864" cy="1097280"/>
          </a:xfrm>
          <a:prstGeom prst="rect">
            <a:avLst/>
          </a:prstGeom>
          <a:solidFill>
            <a:srgbClr val="4B8E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040880" y="1481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Nacional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040880" y="1737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040880" y="22311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regiões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903720" y="2606040"/>
            <a:ext cx="1920240" cy="109728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903720" y="2606040"/>
            <a:ext cx="54864" cy="1097280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7040880" y="26700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Pandemia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40880" y="2926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040880" y="34198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fenômeno nacional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903720" y="3794760"/>
            <a:ext cx="1920240" cy="100584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6903720" y="3794760"/>
            <a:ext cx="54864" cy="1005840"/>
          </a:xfrm>
          <a:prstGeom prst="rect">
            <a:avLst/>
          </a:prstGeom>
          <a:solidFill>
            <a:srgbClr val="3DBF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7040880" y="38587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B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Sudeste lidera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B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absoluto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040880" y="43708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Nordeste: menor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por 100k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PARA A PRÓXIMA FASE DE ANÁLISE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Hipóteses a Investigar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97480" cy="1508760"/>
          </a:xfrm>
          <a:prstGeom prst="rect">
            <a:avLst/>
          </a:prstGeom>
          <a:solidFill>
            <a:srgbClr val="1E2A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4864" cy="150876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75488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Letalidade vs. Patrimônio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874520"/>
            <a:ext cx="2496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com muitos roubos são os mesmos com maior taxa de homicídio doloso?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97480" cy="1508760"/>
          </a:xfrm>
          <a:prstGeom prst="rect">
            <a:avLst/>
          </a:prstGeom>
          <a:solidFill>
            <a:srgbClr val="1E2A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54864" cy="1508760"/>
          </a:xfrm>
          <a:prstGeom prst="rect">
            <a:avLst/>
          </a:prstGeom>
          <a:solidFill>
            <a:srgbClr val="4B8E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310128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8E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1417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Sazonal — Dezembro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874520"/>
            <a:ext cx="2496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Roubos a bancos e de carga aumentam estatisticamente em dezembro?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97480" cy="1508760"/>
          </a:xfrm>
          <a:prstGeom prst="rect">
            <a:avLst/>
          </a:prstGeom>
          <a:solidFill>
            <a:srgbClr val="1E2A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54864" cy="1508760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144768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1417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 Pandêmica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4768" y="1874520"/>
            <a:ext cx="2496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crime caiu mais em 2020 e qual se recuperou mais rápido em 2021?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4160520" cy="1508760"/>
          </a:xfrm>
          <a:prstGeom prst="rect">
            <a:avLst/>
          </a:prstGeom>
          <a:solidFill>
            <a:srgbClr val="1E2A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54864" cy="1508760"/>
          </a:xfrm>
          <a:prstGeom prst="rect">
            <a:avLst/>
          </a:prstGeom>
          <a:solidFill>
            <a:srgbClr val="3DBF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02920" y="3154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B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Evolução Estadual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53872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estados mantiveram queda por 3+ anos consecutivos?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063240"/>
            <a:ext cx="4069080" cy="1508760"/>
          </a:xfrm>
          <a:prstGeom prst="rect">
            <a:avLst/>
          </a:prstGeom>
          <a:solidFill>
            <a:srgbClr val="1E2A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3063240"/>
            <a:ext cx="54864" cy="1508760"/>
          </a:xfrm>
          <a:prstGeom prst="rect">
            <a:avLst/>
          </a:prstGeom>
          <a:solidFill>
            <a:srgbClr val="2BBF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B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entre Tipos de Crime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35387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Roubo de veículos e latrocínio se amplificam na mesma região?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01 · TAXA DE LETALIDADE VS. PATRIMÔNIO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Estados ricos em roubos são os mais letais?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78992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23560" y="1078992"/>
            <a:ext cx="3154680" cy="118872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623560" y="1078992"/>
            <a:ext cx="54864" cy="11887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760720" y="11521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de Pearson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1417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C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0,21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760720" y="19933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FRACA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23560" y="2423160"/>
            <a:ext cx="3154680" cy="118872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623560" y="2423160"/>
            <a:ext cx="54864" cy="1188720"/>
          </a:xfrm>
          <a:prstGeom prst="rect">
            <a:avLst/>
          </a:prstGeom>
          <a:solidFill>
            <a:srgbClr val="4B8E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760720" y="2496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 Explicada (R²)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60720" y="276148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B8E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4%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760720" y="33375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homicídios explicados pelos roubos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23560" y="3767328"/>
            <a:ext cx="3154680" cy="777240"/>
          </a:xfrm>
          <a:prstGeom prst="rect">
            <a:avLst/>
          </a:prstGeom>
          <a:solidFill>
            <a:srgbClr val="1A0A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5623560" y="3767328"/>
            <a:ext cx="54864" cy="777240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760720" y="3822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HIPÓTESE REFUTADA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60720" y="407822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Criminalidade patrimonial e letal são fenômenos independentes no Brasil.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= uma observação UF/Ano. Linha em ouro = tendência de regressão linear.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B8E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B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02 · EFEITO SAZONAL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Dezembro dispara os roubos?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860365914"/>
              </p:ext>
            </p:extLst>
          </p:nvPr>
        </p:nvGraphicFramePr>
        <p:xfrm>
          <a:off x="365760" y="1089660"/>
          <a:ext cx="54864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t de Welch — Dezembro vs. demais meses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035040" y="1600200"/>
            <a:ext cx="2743200" cy="123444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6035040" y="1600200"/>
            <a:ext cx="54864" cy="123444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172200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Roubo de Carga · Dez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7220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+18,9% acima da média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72200" y="2212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0,228  ·  Z = 0,72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72200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Tendência, sem significância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35040" y="2944368"/>
            <a:ext cx="2743200" cy="123444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035040" y="2944368"/>
            <a:ext cx="54864" cy="1234440"/>
          </a:xfrm>
          <a:prstGeom prst="rect">
            <a:avLst/>
          </a:prstGeom>
          <a:solidFill>
            <a:srgbClr val="4B8E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172200" y="3008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B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Roubo a Inst. Financeira · Dez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72200" y="3264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−2,2% abaixo da média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72200" y="35570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0,919  ·  Z = −0,04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72200" y="38130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Sem efeito detectado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035040" y="4297680"/>
            <a:ext cx="2743200" cy="594360"/>
          </a:xfrm>
          <a:prstGeom prst="rect">
            <a:avLst/>
          </a:prstGeom>
          <a:solidFill>
            <a:srgbClr val="0A0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6035040" y="4297680"/>
            <a:ext cx="54864" cy="594360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6172200" y="4343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Efeito de dezembro NÃO se confirma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estatisticamente para nenhum dos crimes (p &gt; 0,05).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03 · ANOMALIA PANDÊMICA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COVID-19 como experimento natural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057753795"/>
              </p:ext>
            </p:extLst>
          </p:nvPr>
        </p:nvGraphicFramePr>
        <p:xfrm>
          <a:off x="365760" y="1078992"/>
          <a:ext cx="54864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078992"/>
            <a:ext cx="2743200" cy="1097280"/>
          </a:xfrm>
          <a:prstGeom prst="rect">
            <a:avLst/>
          </a:prstGeom>
          <a:solidFill>
            <a:srgbClr val="1A050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6035040" y="1078992"/>
            <a:ext cx="54864" cy="1097280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172200" y="11521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queda 2020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72200" y="13990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−24,9%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172200" y="1810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Roubo de Veículo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35040" y="2340864"/>
            <a:ext cx="2743200" cy="1097280"/>
          </a:xfrm>
          <a:prstGeom prst="rect">
            <a:avLst/>
          </a:prstGeom>
          <a:solidFill>
            <a:srgbClr val="1A120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0" y="2340864"/>
            <a:ext cx="54864" cy="109728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172200" y="24140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em 2021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72200" y="266090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rec.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172200" y="30723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Roubo de Veículo e Carga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voltaram ao nível 2019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035040" y="3602736"/>
            <a:ext cx="2743200" cy="1097280"/>
          </a:xfrm>
          <a:prstGeom prst="rect">
            <a:avLst/>
          </a:prstGeom>
          <a:solidFill>
            <a:srgbClr val="051A0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6035040" y="3602736"/>
            <a:ext cx="54864" cy="1097280"/>
          </a:xfrm>
          <a:prstGeom prst="rect">
            <a:avLst/>
          </a:prstGeom>
          <a:solidFill>
            <a:srgbClr val="3DBF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172200" y="36758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alta em 2020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172200" y="392277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B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+6,1%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172200" y="433425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Homicídio Doloso — isolamento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amplificou conflitos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dados de 2022 indisponíveis — análise de recuperação limitada a 2021.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BF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DB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04 · RANKING DE EVOLUÇÃO ESTADUAL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Quais estados sustentaram quedas por 3+ anos?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78992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1078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Destaques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1463040"/>
            <a:ext cx="2743200" cy="960120"/>
          </a:xfrm>
          <a:prstGeom prst="rect">
            <a:avLst/>
          </a:prstGeom>
          <a:solidFill>
            <a:srgbClr val="1A150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6035040" y="1463040"/>
            <a:ext cx="54864" cy="9601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172200" y="15270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Rio Grande do Sul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72200" y="180136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sequências · queda de 1,60 por 100k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estado com 4 anos consecutivos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35040" y="2522220"/>
            <a:ext cx="2743200" cy="960120"/>
          </a:xfrm>
          <a:prstGeom prst="rect">
            <a:avLst/>
          </a:prstGeom>
          <a:solidFill>
            <a:srgbClr val="09182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0" y="2514600"/>
            <a:ext cx="54864" cy="960120"/>
          </a:xfrm>
          <a:prstGeom prst="rect">
            <a:avLst/>
          </a:prstGeom>
          <a:solidFill>
            <a:srgbClr val="4B8E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172200" y="25786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sequências (8 estados)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72200" y="285292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· DF · GO · PR · AP · MS · MT · MG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Predominância Sul/Centro-Oeste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35040" y="3566160"/>
            <a:ext cx="2743200" cy="960120"/>
          </a:xfrm>
          <a:prstGeom prst="rect">
            <a:avLst/>
          </a:prstGeom>
          <a:solidFill>
            <a:srgbClr val="0A121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6035040" y="3566160"/>
            <a:ext cx="54864" cy="960120"/>
          </a:xfrm>
          <a:prstGeom prst="rect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172200" y="3630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— 1 sequência apenas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72200" y="390448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· PA · RO · RR sem tendência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contínua de queda — alta volatilidade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Sequências = janelas de 3 anos com queda ano-a-ano na taxa por 100 mil hab. (pct_change &lt; 0).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BF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B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05 · CORRELAÇÃO ENTRE TIPOS DE CRIME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Roubo de Veículo amplifica Latrocínio?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216997163"/>
              </p:ext>
            </p:extLst>
          </p:nvPr>
        </p:nvGraphicFramePr>
        <p:xfrm>
          <a:off x="365760" y="1078992"/>
          <a:ext cx="5303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1078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Achados-Chave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52160" y="1463040"/>
            <a:ext cx="2926080" cy="1005840"/>
          </a:xfrm>
          <a:prstGeom prst="rect">
            <a:avLst/>
          </a:prstGeom>
          <a:solidFill>
            <a:srgbClr val="1A0A0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852160" y="1463040"/>
            <a:ext cx="54864" cy="1005840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989320" y="1527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Furto Veículo × Homicídio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8932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−0,54  ·  Correlação Negativa Moderada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89320" y="2029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Regiões com mais furto têm MENOS homicídio — perfis opostos.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52160" y="2578608"/>
            <a:ext cx="2926080" cy="868680"/>
          </a:xfrm>
          <a:prstGeom prst="rect">
            <a:avLst/>
          </a:prstGeom>
          <a:solidFill>
            <a:srgbClr val="09182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5852160" y="2578608"/>
            <a:ext cx="54864" cy="868680"/>
          </a:xfrm>
          <a:prstGeom prst="rect">
            <a:avLst/>
          </a:prstGeom>
          <a:solidFill>
            <a:srgbClr val="4B8E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989320" y="26426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Roubo Veículo × Homicídio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89320" y="2898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+0,24  ·  Correlação Fraca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989320" y="3145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 sobreposição, insuficiente para causalidade.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52160" y="3566160"/>
            <a:ext cx="2926080" cy="868680"/>
          </a:xfrm>
          <a:prstGeom prst="rect">
            <a:avLst/>
          </a:prstGeom>
          <a:solidFill>
            <a:srgbClr val="051A0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5852160" y="3566160"/>
            <a:ext cx="54864" cy="868680"/>
          </a:xfrm>
          <a:prstGeom prst="rect">
            <a:avLst/>
          </a:prstGeom>
          <a:solidFill>
            <a:srgbClr val="3DBF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989320" y="36301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B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Latrocínio: sem correlação forte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89320" y="3886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refutada: roubo de veículo 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latrocínio não coexistem sistematicamente.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de correlação: dados agrupados por UF/Ano, crimes: Furto Veíc. · Homicídio Doloso · Roubo Veíc. · Latrocínio.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D15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EXECUTIVA &amp; PRÓXIMOS PASSOS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Conclusões das 5 Hipóteses Investigadas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621792"/>
          </a:xfrm>
          <a:prstGeom prst="rect">
            <a:avLst/>
          </a:prstGeom>
          <a:solidFill>
            <a:srgbClr val="1E2A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4864" cy="62179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453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453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4173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Roubos e homicídios são fenômenos INDEPENDENTES (r = 0,21). O modelo de criminalidade precisa ser multifatorial.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39112"/>
            <a:ext cx="8412480" cy="621792"/>
          </a:xfrm>
          <a:prstGeom prst="rect">
            <a:avLst/>
          </a:prstGeom>
          <a:solidFill>
            <a:srgbClr val="1E2A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65760" y="2039112"/>
            <a:ext cx="54864" cy="621792"/>
          </a:xfrm>
          <a:prstGeom prst="rect">
            <a:avLst/>
          </a:prstGeom>
          <a:solidFill>
            <a:srgbClr val="4B8E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0292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167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213055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Dezembro NÃO apresenta efeito sazonal significativo (p &gt; 0,05) para nenhum dos dois tipos de crime analisados.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52344"/>
            <a:ext cx="8412480" cy="621792"/>
          </a:xfrm>
          <a:prstGeom prst="rect">
            <a:avLst/>
          </a:prstGeom>
          <a:solidFill>
            <a:srgbClr val="1E2A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65760" y="2752344"/>
            <a:ext cx="54864" cy="621792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29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284378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Pandemia: quedas de até 24,9% em 2020. Em 2021 nenhum crime voltou ao nível pré-pandemia. Homicídio foi o único que subiu.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465576"/>
            <a:ext cx="8412480" cy="621792"/>
          </a:xfrm>
          <a:prstGeom prst="rect">
            <a:avLst/>
          </a:prstGeom>
          <a:solidFill>
            <a:srgbClr val="1E2A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5760" y="3465576"/>
            <a:ext cx="54864" cy="621792"/>
          </a:xfrm>
          <a:prstGeom prst="rect">
            <a:avLst/>
          </a:prstGeom>
          <a:solidFill>
            <a:srgbClr val="3DBF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02920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B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593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71600" y="355701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Grande do Sul é o único estado com 4 sequências consecutivas de queda. Centro-Sul lidera; Norte tem alta volatilidade.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78808"/>
            <a:ext cx="8412480" cy="621792"/>
          </a:xfrm>
          <a:prstGeom prst="rect">
            <a:avLst/>
          </a:prstGeom>
          <a:solidFill>
            <a:srgbClr val="1E2A3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65760" y="4178808"/>
            <a:ext cx="54864" cy="621792"/>
          </a:xfrm>
          <a:prstGeom prst="rect">
            <a:avLst/>
          </a:prstGeom>
          <a:solidFill>
            <a:srgbClr val="2BBF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02920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43068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71600" y="427024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Roubo de veículos e latrocínio NÃO se correlacionam fortemente. Achado mais relevante: furto vs. homicídio têm r = −0,54.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883</Words>
  <Application>Microsoft Office PowerPoint</Application>
  <PresentationFormat>Apresentação na tela (16:9)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Criminalidade no Brasil — Análise Regional e Temporal</dc:title>
  <dc:subject>PptxGenJS Presentation</dc:subject>
  <dc:creator>PptxGenJS</dc:creator>
  <cp:lastModifiedBy>Giovani Andreoli</cp:lastModifiedBy>
  <cp:revision>3</cp:revision>
  <dcterms:created xsi:type="dcterms:W3CDTF">2026-04-29T07:57:45Z</dcterms:created>
  <dcterms:modified xsi:type="dcterms:W3CDTF">2026-04-29T15:08:16Z</dcterms:modified>
</cp:coreProperties>
</file>